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7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1051560"/>
            <a:ext cx="4206240" cy="1828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9F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HUZHOU ENTERPRISE AI KNOWLEDGE BASE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7772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湖企智库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822960" y="29718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D8E1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 AI 本地知识库 · 智能问答解决方案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361188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面向湖州制造业 · 敏感数据全本地化处理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4297680"/>
            <a:ext cx="4443984" cy="457200"/>
          </a:xfrm>
          <a:prstGeom prst="roundRect">
            <a:avLst>
              <a:gd name="adj" fmla="val 50000"/>
            </a:avLst>
          </a:prstGeom>
          <a:solidFill>
            <a:srgbClr val="1D2A5C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297680"/>
            <a:ext cx="4443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 本地部署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541264" y="429768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1D2A5C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41264" y="4297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数据不出域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918704" y="4297680"/>
            <a:ext cx="2395728" cy="457200"/>
          </a:xfrm>
          <a:prstGeom prst="roundRect">
            <a:avLst>
              <a:gd name="adj" fmla="val 50000"/>
            </a:avLst>
          </a:prstGeom>
          <a:solidFill>
            <a:srgbClr val="1D2A5C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18704" y="4297680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开箱即用演示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10378440" y="2286000"/>
            <a:ext cx="1234440" cy="1234440"/>
          </a:xfrm>
          <a:prstGeom prst="ellipse">
            <a:avLst/>
          </a:prstGeom>
          <a:solidFill>
            <a:srgbClr val="1D2A5C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0017" y="2557577"/>
            <a:ext cx="691286" cy="691286"/>
          </a:xfrm>
          <a:prstGeom prst="rect">
            <a:avLst/>
          </a:prstGeom>
        </p:spPr>
      </p:pic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0192" y="2587752"/>
            <a:ext cx="621792" cy="62179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0012680" y="37490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本地部署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10012680" y="411480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 + 知识 + 推理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F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全链路内网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822960" y="5989320"/>
            <a:ext cx="10515600" cy="10973"/>
          </a:xfrm>
          <a:prstGeom prst="rect">
            <a:avLst/>
          </a:prstGeom>
          <a:solidFill>
            <a:srgbClr val="2A3A6E"/>
          </a:solidFill>
          <a:ln/>
        </p:spPr>
      </p:sp>
      <p:sp>
        <p:nvSpPr>
          <p:cNvPr id="20" name="Text 16"/>
          <p:cNvSpPr/>
          <p:nvPr/>
        </p:nvSpPr>
        <p:spPr>
          <a:xfrm>
            <a:off x="822960" y="61447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F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演示版本 v1.0 · 适用于方案汇报与企业展厅演示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28016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4747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企业知识管理的四大痛点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93268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湖州制造企业在数字化转型中最普遍面临的现实问题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13716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60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制度、工艺、客户与财务知识散落各处，且多涉及敏感数据 —— 上云不敢，查找困难。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1920240"/>
            <a:ext cx="5074920" cy="2103120"/>
          </a:xfrm>
          <a:prstGeom prst="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  <a:effectLst>
            <a:outerShdw sx="100000" sy="100000" kx="0" ky="0" algn="bl" rotWithShape="0" blurRad="114300" dist="38100" dir="5400000">
              <a:srgbClr val="1A234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15568" y="2212848"/>
            <a:ext cx="566928" cy="566928"/>
          </a:xfrm>
          <a:prstGeom prst="ellipse">
            <a:avLst/>
          </a:prstGeom>
          <a:solidFill>
            <a:srgbClr val="EAECF7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0292" y="2337572"/>
            <a:ext cx="317480" cy="317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47088" y="2231136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8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知识分散 · 检索靠人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133856" y="2788920"/>
            <a:ext cx="445312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12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E6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制度文档、工艺文件、客户资料散落在文件服务器、OA 与个人电脑</a:t>
            </a:r>
            <a:endParaRPr lang="en-US" sz="1200" dirty="0"/>
          </a:p>
          <a:p>
            <a:pPr marL="342900" indent="-342900">
              <a:lnSpc>
                <a:spcPts val="112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E6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想找一份文件平均要翻 3~5 个系统，新员工上手慢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91072" y="1920240"/>
            <a:ext cx="5074920" cy="2103120"/>
          </a:xfrm>
          <a:prstGeom prst="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  <a:effectLst>
            <a:outerShdw sx="100000" sy="100000" kx="0" ky="0" algn="bl" rotWithShape="0" blurRad="114300" dist="38100" dir="5400000">
              <a:srgbClr val="1A234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83680" y="2212848"/>
            <a:ext cx="566928" cy="566928"/>
          </a:xfrm>
          <a:prstGeom prst="ellipse">
            <a:avLst/>
          </a:prstGeom>
          <a:solidFill>
            <a:srgbClr val="EAECF7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8404" y="2337572"/>
            <a:ext cx="317480" cy="317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315200" y="2231136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8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敏感数据 · 不敢上云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601968" y="2788920"/>
            <a:ext cx="445312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12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E6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客户信息、财务数据、工艺配方触碰合规红线</a:t>
            </a:r>
            <a:endParaRPr lang="en-US" sz="1200" dirty="0"/>
          </a:p>
          <a:p>
            <a:pPr marL="342900" indent="-342900">
              <a:lnSpc>
                <a:spcPts val="112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E6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数据出域风险高，公有云大模型 API 无法直接使用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22960" y="4224528"/>
            <a:ext cx="5074920" cy="2103120"/>
          </a:xfrm>
          <a:prstGeom prst="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  <a:effectLst>
            <a:outerShdw sx="100000" sy="100000" kx="0" ky="0" algn="bl" rotWithShape="0" blurRad="114300" dist="38100" dir="5400000">
              <a:srgbClr val="1A234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1115568" y="4517136"/>
            <a:ext cx="566928" cy="566928"/>
          </a:xfrm>
          <a:prstGeom prst="ellipse">
            <a:avLst/>
          </a:prstGeom>
          <a:solidFill>
            <a:srgbClr val="FBEAE8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0292" y="4641860"/>
            <a:ext cx="317480" cy="317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847088" y="4535424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8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经验流失 · 难以沉淀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1133856" y="5093208"/>
            <a:ext cx="445312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12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E6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老师傅的工艺诀窍、异常处理经验没有结构化沉淀</a:t>
            </a:r>
            <a:endParaRPr lang="en-US" sz="1200" dirty="0"/>
          </a:p>
          <a:p>
            <a:pPr marL="342900" indent="-342900">
              <a:lnSpc>
                <a:spcPts val="112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E6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人员流动导致隐性知识大量流失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291072" y="4224528"/>
            <a:ext cx="5074920" cy="2103120"/>
          </a:xfrm>
          <a:prstGeom prst="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  <a:effectLst>
            <a:outerShdw sx="100000" sy="100000" kx="0" ky="0" algn="bl" rotWithShape="0" blurRad="114300" dist="38100" dir="5400000">
              <a:srgbClr val="1A234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583680" y="4517136"/>
            <a:ext cx="566928" cy="566928"/>
          </a:xfrm>
          <a:prstGeom prst="ellipse">
            <a:avLst/>
          </a:prstGeom>
          <a:solidFill>
            <a:srgbClr val="EAECF7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8404" y="4641860"/>
            <a:ext cx="317480" cy="3174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315200" y="4535424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8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检索低效 · 不懂语义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6601968" y="5093208"/>
            <a:ext cx="445312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12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E6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传统关键词搜索理解不了语义</a:t>
            </a:r>
            <a:endParaRPr lang="en-US" sz="1200" dirty="0"/>
          </a:p>
          <a:p>
            <a:pPr marL="342900" indent="-342900">
              <a:lnSpc>
                <a:spcPts val="112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E6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问「发票报销规定」搜不到「出差费用怎么报销」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640080" y="6510528"/>
            <a:ext cx="10908792" cy="10973"/>
          </a:xfrm>
          <a:prstGeom prst="rect">
            <a:avLst/>
          </a:prstGeom>
          <a:solidFill>
            <a:srgbClr val="E3E6EE"/>
          </a:solidFill>
          <a:ln/>
        </p:spPr>
      </p:sp>
      <p:sp>
        <p:nvSpPr>
          <p:cNvPr id="27" name="Text 21"/>
          <p:cNvSpPr/>
          <p:nvPr/>
        </p:nvSpPr>
        <p:spPr>
          <a:xfrm>
            <a:off x="64008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湖企智库 · 企业AI本地知识库解决方案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0607040" y="6565392"/>
            <a:ext cx="941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28016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4747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方案总览：本地 DeepSeek + RAG 知识增强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93268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让企业知识「存得安全 · 问得聪明 · 答得有据」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1417320"/>
            <a:ext cx="10543032" cy="914400"/>
          </a:xfrm>
          <a:prstGeom prst="rect">
            <a:avLst>
              <a:gd name="adj" fmla="val 8000"/>
            </a:avLst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6459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417320"/>
            <a:ext cx="9418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本地化部署 DeepSeek 大模型 + 向量检索增强生成（RAG），企业私有知识不出内网即可获得智能问答能力。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22960" y="2606040"/>
            <a:ext cx="3392424" cy="1965960"/>
          </a:xfrm>
          <a:prstGeom prst="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  <a:effectLst>
            <a:outerShdw sx="100000" sy="100000" kx="0" ky="0" algn="bl" rotWithShape="0" blurRad="114300" dist="38100" dir="5400000">
              <a:srgbClr val="1A234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143000" y="2880360"/>
            <a:ext cx="566928" cy="566928"/>
          </a:xfrm>
          <a:prstGeom prst="ellipse">
            <a:avLst/>
          </a:prstGeom>
          <a:solidFill>
            <a:srgbClr val="E4F3F4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7724" y="3005084"/>
            <a:ext cx="317480" cy="317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874520" y="290779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8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 100% 本地化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143000" y="342900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6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模型、知识、推理全链路在内网，敏感数据零出域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398264" y="2606040"/>
            <a:ext cx="3392424" cy="1965960"/>
          </a:xfrm>
          <a:prstGeom prst="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  <a:effectLst>
            <a:outerShdw sx="100000" sy="100000" kx="0" ky="0" algn="bl" rotWithShape="0" blurRad="114300" dist="38100" dir="5400000">
              <a:srgbClr val="1A234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718304" y="2880360"/>
            <a:ext cx="566928" cy="566928"/>
          </a:xfrm>
          <a:prstGeom prst="ellipse">
            <a:avLst/>
          </a:prstGeom>
          <a:solidFill>
            <a:srgbClr val="E4F3F4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3028" y="3005084"/>
            <a:ext cx="317480" cy="317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49824" y="290779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8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语义级智能检索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4718304" y="342900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6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向量检索理解问题意图，跨文档精准定位答案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7973568" y="2606040"/>
            <a:ext cx="3392424" cy="1965960"/>
          </a:xfrm>
          <a:prstGeom prst="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  <a:effectLst>
            <a:outerShdw sx="100000" sy="100000" kx="0" ky="0" algn="bl" rotWithShape="0" blurRad="114300" dist="38100" dir="5400000">
              <a:srgbClr val="1A2340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293608" y="2880360"/>
            <a:ext cx="566928" cy="566928"/>
          </a:xfrm>
          <a:prstGeom prst="ellipse">
            <a:avLst/>
          </a:prstGeom>
          <a:solidFill>
            <a:srgbClr val="E4F3F4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8332" y="3005084"/>
            <a:ext cx="317480" cy="3174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025128" y="290779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8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长期成本更优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8293608" y="342900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6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 GPU 投入，7×24 在线，不受 API 限流与涨价影响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822960" y="4800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问答流水线</a:t>
            </a:r>
            <a:endParaRPr lang="en-US" sz="1500" dirty="0"/>
          </a:p>
        </p:txBody>
      </p:sp>
      <p:sp>
        <p:nvSpPr>
          <p:cNvPr id="24" name="Shape 18"/>
          <p:cNvSpPr/>
          <p:nvPr/>
        </p:nvSpPr>
        <p:spPr>
          <a:xfrm>
            <a:off x="822960" y="5257800"/>
            <a:ext cx="1874520" cy="868680"/>
          </a:xfrm>
          <a:prstGeom prst="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5440680"/>
            <a:ext cx="411480" cy="41148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536192" y="525780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8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文档上传</a:t>
            </a:r>
            <a:endParaRPr lang="en-US" sz="1300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61488" y="5559552"/>
            <a:ext cx="274320" cy="274320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3035808" y="5257800"/>
            <a:ext cx="1874520" cy="868680"/>
          </a:xfrm>
          <a:prstGeom prst="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18688" y="5440680"/>
            <a:ext cx="411480" cy="41148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3749040" y="525780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8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解析分块</a:t>
            </a:r>
            <a:endParaRPr lang="en-US" sz="1300" dirty="0"/>
          </a:p>
        </p:txBody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74336" y="5559552"/>
            <a:ext cx="274320" cy="274320"/>
          </a:xfrm>
          <a:prstGeom prst="rect">
            <a:avLst/>
          </a:prstGeom>
        </p:spPr>
      </p:pic>
      <p:sp>
        <p:nvSpPr>
          <p:cNvPr id="32" name="Shape 22"/>
          <p:cNvSpPr/>
          <p:nvPr/>
        </p:nvSpPr>
        <p:spPr>
          <a:xfrm>
            <a:off x="5248656" y="5257800"/>
            <a:ext cx="1874520" cy="868680"/>
          </a:xfrm>
          <a:prstGeom prst="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</p:spPr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31536" y="5440680"/>
            <a:ext cx="411480" cy="411480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5961888" y="525780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8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向量入库</a:t>
            </a:r>
            <a:endParaRPr lang="en-US" sz="1300" dirty="0"/>
          </a:p>
        </p:txBody>
      </p:sp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87184" y="5559552"/>
            <a:ext cx="274320" cy="274320"/>
          </a:xfrm>
          <a:prstGeom prst="rect">
            <a:avLst/>
          </a:prstGeom>
        </p:spPr>
      </p:pic>
      <p:sp>
        <p:nvSpPr>
          <p:cNvPr id="36" name="Shape 24"/>
          <p:cNvSpPr/>
          <p:nvPr/>
        </p:nvSpPr>
        <p:spPr>
          <a:xfrm>
            <a:off x="7461504" y="5257800"/>
            <a:ext cx="1874520" cy="868680"/>
          </a:xfrm>
          <a:prstGeom prst="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</p:spPr>
      </p:sp>
      <p:pic>
        <p:nvPicPr>
          <p:cNvPr id="3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44384" y="5440680"/>
            <a:ext cx="411480" cy="411480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8174736" y="525780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8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语义检索</a:t>
            </a:r>
            <a:endParaRPr lang="en-US" sz="1300" dirty="0"/>
          </a:p>
        </p:txBody>
      </p:sp>
      <p:pic>
        <p:nvPicPr>
          <p:cNvPr id="3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400032" y="5559552"/>
            <a:ext cx="274320" cy="274320"/>
          </a:xfrm>
          <a:prstGeom prst="rect">
            <a:avLst/>
          </a:prstGeom>
        </p:spPr>
      </p:pic>
      <p:sp>
        <p:nvSpPr>
          <p:cNvPr id="40" name="Shape 26"/>
          <p:cNvSpPr/>
          <p:nvPr/>
        </p:nvSpPr>
        <p:spPr>
          <a:xfrm>
            <a:off x="9674352" y="5257800"/>
            <a:ext cx="1874520" cy="868680"/>
          </a:xfrm>
          <a:prstGeom prst="rect">
            <a:avLst>
              <a:gd name="adj" fmla="val 631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4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857232" y="5440680"/>
            <a:ext cx="411480" cy="411480"/>
          </a:xfrm>
          <a:prstGeom prst="rect">
            <a:avLst/>
          </a:prstGeom>
        </p:spPr>
      </p:pic>
      <p:sp>
        <p:nvSpPr>
          <p:cNvPr id="42" name="Text 27"/>
          <p:cNvSpPr/>
          <p:nvPr/>
        </p:nvSpPr>
        <p:spPr>
          <a:xfrm>
            <a:off x="10387584" y="525780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 生成</a:t>
            </a:r>
            <a:endParaRPr lang="en-US" sz="1300" dirty="0"/>
          </a:p>
        </p:txBody>
      </p:sp>
      <p:sp>
        <p:nvSpPr>
          <p:cNvPr id="43" name="Shape 28"/>
          <p:cNvSpPr/>
          <p:nvPr/>
        </p:nvSpPr>
        <p:spPr>
          <a:xfrm>
            <a:off x="640080" y="6510528"/>
            <a:ext cx="10908792" cy="10973"/>
          </a:xfrm>
          <a:prstGeom prst="rect">
            <a:avLst/>
          </a:prstGeom>
          <a:solidFill>
            <a:srgbClr val="E3E6EE"/>
          </a:solidFill>
          <a:ln/>
        </p:spPr>
      </p:sp>
      <p:sp>
        <p:nvSpPr>
          <p:cNvPr id="44" name="Text 29"/>
          <p:cNvSpPr/>
          <p:nvPr/>
        </p:nvSpPr>
        <p:spPr>
          <a:xfrm>
            <a:off x="64008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湖企智库 · 企业AI本地知识库解决方案</a:t>
            </a:r>
            <a:endParaRPr lang="en-US" sz="900" dirty="0"/>
          </a:p>
        </p:txBody>
      </p:sp>
      <p:sp>
        <p:nvSpPr>
          <p:cNvPr id="45" name="Text 30"/>
          <p:cNvSpPr/>
          <p:nvPr/>
        </p:nvSpPr>
        <p:spPr>
          <a:xfrm>
            <a:off x="10607040" y="6565392"/>
            <a:ext cx="941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28016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4747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总体架构：四层一体，全部落在企业内网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93268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从接入、应用到模型与数据，全链路私有化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8915400" cy="4937760"/>
          </a:xfrm>
          <a:prstGeom prst="rect">
            <a:avLst>
              <a:gd name="adj" fmla="val 1852"/>
            </a:avLst>
          </a:prstGeom>
          <a:solidFill>
            <a:srgbClr val="FBFCFE"/>
          </a:solidFill>
          <a:ln w="15240">
            <a:solidFill>
              <a:srgbClr val="02809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868680" y="1325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60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企业内网安全边界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1810512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6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用户接入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57400" y="1600200"/>
            <a:ext cx="2240280" cy="749808"/>
          </a:xfrm>
          <a:prstGeom prst="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57400" y="170992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328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 Web 端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62272" y="1600200"/>
            <a:ext cx="2240280" cy="749808"/>
          </a:xfrm>
          <a:prstGeom prst="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62272" y="170992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328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企业微信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67144" y="1600200"/>
            <a:ext cx="2240280" cy="749808"/>
          </a:xfrm>
          <a:prstGeom prst="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67144" y="170992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328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 API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68680" y="2907792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6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应用功能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057400" y="2697480"/>
            <a:ext cx="2240280" cy="749808"/>
          </a:xfrm>
          <a:prstGeom prst="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57400" y="280720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328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知识库管理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462272" y="2697480"/>
            <a:ext cx="2240280" cy="749808"/>
          </a:xfrm>
          <a:prstGeom prst="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62272" y="280720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328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智能问答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867144" y="2697480"/>
            <a:ext cx="2240280" cy="749808"/>
          </a:xfrm>
          <a:prstGeom prst="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67144" y="280720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328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权限控制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272016" y="2697480"/>
            <a:ext cx="2240280" cy="749808"/>
          </a:xfrm>
          <a:prstGeom prst="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72016" y="280720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328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审计日志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68680" y="4096512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6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服务层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057400" y="3794760"/>
            <a:ext cx="2240280" cy="932688"/>
          </a:xfrm>
          <a:prstGeom prst="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57400" y="390448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328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检索引擎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2057400" y="427024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E6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语义检索+重排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462272" y="3794760"/>
            <a:ext cx="2240280" cy="932688"/>
          </a:xfrm>
          <a:prstGeom prst="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62272" y="390448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328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 Embedding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462272" y="427024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E6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bge-m3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867144" y="3794760"/>
            <a:ext cx="2240280" cy="932688"/>
          </a:xfrm>
          <a:prstGeom prst="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67144" y="390448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328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 本地推理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867144" y="427024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E6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Ollama 7B/14B/32B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68680" y="5330952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6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数据存储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057400" y="5120640"/>
            <a:ext cx="2240280" cy="749808"/>
          </a:xfrm>
          <a:prstGeom prst="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057400" y="523036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328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文档存储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2057400" y="559612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E6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PDF/Word/Excel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462272" y="5120640"/>
            <a:ext cx="2240280" cy="749808"/>
          </a:xfrm>
          <a:prstGeom prst="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62272" y="523036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328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向量数据库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4462272" y="559612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E6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ChromaDB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867144" y="5120640"/>
            <a:ext cx="2240280" cy="749808"/>
          </a:xfrm>
          <a:prstGeom prst="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67144" y="523036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328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审计日志库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6867144" y="559612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E6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SQLite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9829800" y="3063240"/>
            <a:ext cx="1783080" cy="1371600"/>
          </a:xfrm>
          <a:prstGeom prst="rect">
            <a:avLst>
              <a:gd name="adj" fmla="val 5333"/>
            </a:avLst>
          </a:prstGeom>
          <a:solidFill>
            <a:srgbClr val="FBEAE8"/>
          </a:solidFill>
          <a:ln w="12700">
            <a:solidFill>
              <a:srgbClr val="C0392B"/>
            </a:solidFill>
            <a:prstDash val="dash"/>
          </a:ln>
        </p:spPr>
      </p:sp>
      <p:sp>
        <p:nvSpPr>
          <p:cNvPr id="44" name="Text 42"/>
          <p:cNvSpPr/>
          <p:nvPr/>
        </p:nvSpPr>
        <p:spPr>
          <a:xfrm>
            <a:off x="9829800" y="32004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互联网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9829800" y="352044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公有云 API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不接入</a:t>
            </a:r>
            <a:endParaRPr lang="en-US" sz="1100" dirty="0"/>
          </a:p>
        </p:txBody>
      </p:sp>
      <p:pic>
        <p:nvPicPr>
          <p:cNvPr id="4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3611880"/>
            <a:ext cx="320040" cy="320040"/>
          </a:xfrm>
          <a:prstGeom prst="rect">
            <a:avLst/>
          </a:prstGeom>
        </p:spPr>
      </p:pic>
      <p:sp>
        <p:nvSpPr>
          <p:cNvPr id="47" name="Text 44"/>
          <p:cNvSpPr/>
          <p:nvPr/>
        </p:nvSpPr>
        <p:spPr>
          <a:xfrm>
            <a:off x="9829800" y="475488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260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 · 知识 · 推理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260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全链路本地化，数据不出域</a:t>
            </a:r>
            <a:endParaRPr lang="en-US" sz="1050" dirty="0"/>
          </a:p>
        </p:txBody>
      </p:sp>
      <p:sp>
        <p:nvSpPr>
          <p:cNvPr id="48" name="Shape 45"/>
          <p:cNvSpPr/>
          <p:nvPr/>
        </p:nvSpPr>
        <p:spPr>
          <a:xfrm>
            <a:off x="640080" y="6510528"/>
            <a:ext cx="10908792" cy="10973"/>
          </a:xfrm>
          <a:prstGeom prst="rect">
            <a:avLst/>
          </a:prstGeom>
          <a:solidFill>
            <a:srgbClr val="E3E6EE"/>
          </a:solidFill>
          <a:ln/>
        </p:spPr>
      </p:sp>
      <p:sp>
        <p:nvSpPr>
          <p:cNvPr id="49" name="Text 46"/>
          <p:cNvSpPr/>
          <p:nvPr/>
        </p:nvSpPr>
        <p:spPr>
          <a:xfrm>
            <a:off x="64008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湖企智库 · 企业AI本地知识库解决方案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10607040" y="6565392"/>
            <a:ext cx="941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28016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4747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技术选型：DeepSeek 本地化部署矩阵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93268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按企业硬件条件灵活选择模型规格，支持离线安装包交付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 本地模型规格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28800"/>
          <a:ext cx="5760720" cy="2377440"/>
        </p:xfrm>
        <a:graphic>
          <a:graphicData uri="http://schemas.openxmlformats.org/drawingml/2006/table">
            <a:tbl>
              <a:tblPr/>
              <a:tblGrid>
                <a:gridCol w="1920240"/>
                <a:gridCol w="1188720"/>
                <a:gridCol w="265176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模型规格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显存建议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适用场景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328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deepseek-r1:7b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28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16GB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E64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中小型企业 / 演示环境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328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deepseek-r1:14b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28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32GB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E64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中型企业知识问答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328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deepseek-r1:32b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28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64GB+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E64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大型企业 / 高精度场景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949440" y="1417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配套本地组件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949440" y="1828800"/>
            <a:ext cx="4416552" cy="804672"/>
          </a:xfrm>
          <a:prstGeom prst="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132320" y="1956816"/>
            <a:ext cx="502920" cy="502920"/>
          </a:xfrm>
          <a:prstGeom prst="ellipse">
            <a:avLst/>
          </a:prstGeom>
          <a:solidFill>
            <a:srgbClr val="E4F3F4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42962" y="2067458"/>
            <a:ext cx="281635" cy="28163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772400" y="192024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8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Ollama 推理引擎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7772400" y="221284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6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本地运行 DeepSeek，支持 OpenAI 兼容接口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6949440" y="2743200"/>
            <a:ext cx="4416552" cy="804672"/>
          </a:xfrm>
          <a:prstGeom prst="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132320" y="2871216"/>
            <a:ext cx="502920" cy="502920"/>
          </a:xfrm>
          <a:prstGeom prst="ellipse">
            <a:avLst/>
          </a:prstGeom>
          <a:solidFill>
            <a:srgbClr val="E4F3F4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2962" y="2981858"/>
            <a:ext cx="281635" cy="28163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772400" y="283464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8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向量数据库 ChromaDB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7772400" y="312724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6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知识片段向量化存储与相似度检索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6949440" y="3657600"/>
            <a:ext cx="4416552" cy="804672"/>
          </a:xfrm>
          <a:prstGeom prst="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132320" y="3785616"/>
            <a:ext cx="502920" cy="502920"/>
          </a:xfrm>
          <a:prstGeom prst="ellipse">
            <a:avLst/>
          </a:prstGeom>
          <a:solidFill>
            <a:srgbClr val="E4F3F4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2962" y="3896258"/>
            <a:ext cx="281635" cy="28163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772400" y="374904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8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 Embedding bge-m3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7772400" y="404164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6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中文语义向量化，支持中英混合检索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6949440" y="4572000"/>
            <a:ext cx="4416552" cy="804672"/>
          </a:xfrm>
          <a:prstGeom prst="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7132320" y="4700016"/>
            <a:ext cx="502920" cy="502920"/>
          </a:xfrm>
          <a:prstGeom prst="ellipse">
            <a:avLst/>
          </a:prstGeom>
          <a:solidFill>
            <a:srgbClr val="E4F3F4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2962" y="4810658"/>
            <a:ext cx="281635" cy="281635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772400" y="466344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8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文档解析引擎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7772400" y="495604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6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 / Word / Excel / PPT / TXT / MD 自动解析</a:t>
            </a:r>
            <a:endParaRPr lang="en-US" sz="950" dirty="0"/>
          </a:p>
        </p:txBody>
      </p:sp>
      <p:sp>
        <p:nvSpPr>
          <p:cNvPr id="28" name="Shape 21"/>
          <p:cNvSpPr/>
          <p:nvPr/>
        </p:nvSpPr>
        <p:spPr>
          <a:xfrm>
            <a:off x="822960" y="4572000"/>
            <a:ext cx="5760720" cy="1600200"/>
          </a:xfrm>
          <a:prstGeom prst="rect">
            <a:avLst>
              <a:gd name="adj" fmla="val 4571"/>
            </a:avLst>
          </a:prstGeom>
          <a:solidFill>
            <a:srgbClr val="E4F3F4"/>
          </a:solidFill>
          <a:ln/>
        </p:spPr>
      </p:sp>
      <p:sp>
        <p:nvSpPr>
          <p:cNvPr id="29" name="Text 22"/>
          <p:cNvSpPr/>
          <p:nvPr/>
        </p:nvSpPr>
        <p:spPr>
          <a:xfrm>
            <a:off x="1097280" y="47548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60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为什么选本地部署 DeepSeek？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1097280" y="512064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260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开源模型可私有化，推理不产生外部流量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260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敏感数据全程留在内网，满足合规审查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260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企业展厅 / 工厂内网环境可离线演示</a:t>
            </a:r>
            <a:endParaRPr lang="en-US" sz="1150" dirty="0"/>
          </a:p>
        </p:txBody>
      </p:sp>
      <p:sp>
        <p:nvSpPr>
          <p:cNvPr id="31" name="Shape 24"/>
          <p:cNvSpPr/>
          <p:nvPr/>
        </p:nvSpPr>
        <p:spPr>
          <a:xfrm>
            <a:off x="640080" y="6510528"/>
            <a:ext cx="10908792" cy="10973"/>
          </a:xfrm>
          <a:prstGeom prst="rect">
            <a:avLst/>
          </a:prstGeom>
          <a:solidFill>
            <a:srgbClr val="E3E6EE"/>
          </a:solidFill>
          <a:ln/>
        </p:spPr>
      </p:sp>
      <p:sp>
        <p:nvSpPr>
          <p:cNvPr id="32" name="Text 25"/>
          <p:cNvSpPr/>
          <p:nvPr/>
        </p:nvSpPr>
        <p:spPr>
          <a:xfrm>
            <a:off x="64008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湖企智库 · 企业AI本地知识库解决方案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10607040" y="6565392"/>
            <a:ext cx="941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28016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4747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数据安全设计：四层防护 + 合规就绪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93268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为敏感数据场景量身设计的安全体系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1463040"/>
            <a:ext cx="5074920" cy="1783080"/>
          </a:xfrm>
          <a:prstGeom prst="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  <a:effectLst>
            <a:outerShdw sx="100000" sy="100000" kx="0" ky="0" algn="bl" rotWithShape="0" blurRad="114300" dist="38100" dir="5400000">
              <a:srgbClr val="1A234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43000" y="1737360"/>
            <a:ext cx="621792" cy="621792"/>
          </a:xfrm>
          <a:prstGeom prst="ellipse">
            <a:avLst/>
          </a:prstGeom>
          <a:solidFill>
            <a:srgbClr val="EAECF7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9794" y="1874154"/>
            <a:ext cx="348204" cy="34820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65960" y="175564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8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网络隔离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43000" y="2331720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1200" dirty="0">
                <a:solidFill>
                  <a:srgbClr val="5E6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系统仅运行于企业内网，不开放公网端口；与互联网物理/逻辑隔离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91072" y="1463040"/>
            <a:ext cx="5074920" cy="1783080"/>
          </a:xfrm>
          <a:prstGeom prst="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  <a:effectLst>
            <a:outerShdw sx="100000" sy="100000" kx="0" ky="0" algn="bl" rotWithShape="0" blurRad="114300" dist="38100" dir="5400000">
              <a:srgbClr val="1A234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611112" y="1737360"/>
            <a:ext cx="621792" cy="621792"/>
          </a:xfrm>
          <a:prstGeom prst="ellipse">
            <a:avLst/>
          </a:prstGeom>
          <a:solidFill>
            <a:srgbClr val="EAECF7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7906" y="1874154"/>
            <a:ext cx="348204" cy="34820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34072" y="175564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8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权限控制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611112" y="2331720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1200" dirty="0">
                <a:solidFill>
                  <a:srgbClr val="5E6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角色化权限：管理员 / 部门主管 / 普通员工，敏感知识分级授权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22960" y="3429000"/>
            <a:ext cx="5074920" cy="1783080"/>
          </a:xfrm>
          <a:prstGeom prst="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  <a:effectLst>
            <a:outerShdw sx="100000" sy="100000" kx="0" ky="0" algn="bl" rotWithShape="0" blurRad="114300" dist="38100" dir="5400000">
              <a:srgbClr val="1A234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1143000" y="3703320"/>
            <a:ext cx="621792" cy="621792"/>
          </a:xfrm>
          <a:prstGeom prst="ellipse">
            <a:avLst/>
          </a:prstGeom>
          <a:solidFill>
            <a:srgbClr val="EAECF7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9794" y="3840114"/>
            <a:ext cx="348204" cy="34820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965960" y="372160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8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全程审计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143000" y="4297680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1200" dirty="0">
                <a:solidFill>
                  <a:srgbClr val="5E6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文档操作、问答行为、导出行为全量留痕，可追溯可追责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291072" y="3429000"/>
            <a:ext cx="5074920" cy="1783080"/>
          </a:xfrm>
          <a:prstGeom prst="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  <a:effectLst>
            <a:outerShdw sx="100000" sy="100000" kx="0" ky="0" algn="bl" rotWithShape="0" blurRad="114300" dist="38100" dir="5400000">
              <a:srgbClr val="1A234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611112" y="3703320"/>
            <a:ext cx="621792" cy="621792"/>
          </a:xfrm>
          <a:prstGeom prst="ellipse">
            <a:avLst/>
          </a:prstGeom>
          <a:solidFill>
            <a:srgbClr val="E4F3F4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7906" y="3840114"/>
            <a:ext cx="348204" cy="34820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34072" y="372160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8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合规就绪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6611112" y="4297680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1200" dirty="0">
                <a:solidFill>
                  <a:srgbClr val="5E6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满足《数据安全法》《个人信息保护法》本地化要求，数据不出域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822960" y="5349240"/>
            <a:ext cx="10543032" cy="868680"/>
          </a:xfrm>
          <a:prstGeom prst="rect">
            <a:avLst>
              <a:gd name="adj" fmla="val 8421"/>
            </a:avLst>
          </a:prstGeom>
          <a:solidFill>
            <a:srgbClr val="1E2761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5532120"/>
            <a:ext cx="502920" cy="5029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783080" y="5349240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核心承诺：模型不出域 · 知识不出域 · 推理不出域 —— 企业数据主权完全自持</a:t>
            </a:r>
            <a:endParaRPr lang="en-US" sz="1500" dirty="0"/>
          </a:p>
        </p:txBody>
      </p:sp>
      <p:sp>
        <p:nvSpPr>
          <p:cNvPr id="28" name="Shape 21"/>
          <p:cNvSpPr/>
          <p:nvPr/>
        </p:nvSpPr>
        <p:spPr>
          <a:xfrm>
            <a:off x="640080" y="6510528"/>
            <a:ext cx="10908792" cy="10973"/>
          </a:xfrm>
          <a:prstGeom prst="rect">
            <a:avLst/>
          </a:prstGeom>
          <a:solidFill>
            <a:srgbClr val="E3E6EE"/>
          </a:solidFill>
          <a:ln/>
        </p:spPr>
      </p:sp>
      <p:sp>
        <p:nvSpPr>
          <p:cNvPr id="29" name="Text 22"/>
          <p:cNvSpPr/>
          <p:nvPr/>
        </p:nvSpPr>
        <p:spPr>
          <a:xfrm>
            <a:off x="64008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湖企智库 · 企业AI本地知识库解决方案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0607040" y="6565392"/>
            <a:ext cx="941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28016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4747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系统功能模块：企业开箱即用的完整能力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93268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覆盖知识入库、智能问答、治理管控全流程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1463040"/>
            <a:ext cx="3392424" cy="1481328"/>
          </a:xfrm>
          <a:prstGeom prst="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  <a:effectLst>
            <a:outerShdw sx="100000" sy="100000" kx="0" ky="0" algn="bl" rotWithShape="0" blurRad="114300" dist="38100" dir="5400000">
              <a:srgbClr val="1A234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97280" y="1719072"/>
            <a:ext cx="548640" cy="548640"/>
          </a:xfrm>
          <a:prstGeom prst="ellipse">
            <a:avLst/>
          </a:prstGeom>
          <a:solidFill>
            <a:srgbClr val="E4F3F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7981" y="1839773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10512" y="17373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8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文档知识库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097280" y="2212848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"/>
              </a:lnSpc>
              <a:buNone/>
            </a:pPr>
            <a:r>
              <a:rPr lang="en-US" sz="1050" dirty="0">
                <a:solidFill>
                  <a:srgbClr val="5E6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多格式文档上传、自动解析、分块向量化，目录化管理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98264" y="1463040"/>
            <a:ext cx="3392424" cy="1481328"/>
          </a:xfrm>
          <a:prstGeom prst="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  <a:effectLst>
            <a:outerShdw sx="100000" sy="100000" kx="0" ky="0" algn="bl" rotWithShape="0" blurRad="114300" dist="38100" dir="5400000">
              <a:srgbClr val="1A234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72584" y="1719072"/>
            <a:ext cx="548640" cy="548640"/>
          </a:xfrm>
          <a:prstGeom prst="ellipse">
            <a:avLst/>
          </a:prstGeom>
          <a:solidFill>
            <a:srgbClr val="E4F3F4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3285" y="1839773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85816" y="17373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8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智能问答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672584" y="2212848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"/>
              </a:lnSpc>
              <a:buNone/>
            </a:pPr>
            <a:r>
              <a:rPr lang="en-US" sz="1050" dirty="0">
                <a:solidFill>
                  <a:srgbClr val="5E6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 结合检索结果生成回答，支持追问与多轮对话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7973568" y="1463040"/>
            <a:ext cx="3392424" cy="1481328"/>
          </a:xfrm>
          <a:prstGeom prst="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  <a:effectLst>
            <a:outerShdw sx="100000" sy="100000" kx="0" ky="0" algn="bl" rotWithShape="0" blurRad="114300" dist="38100" dir="5400000">
              <a:srgbClr val="1A234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47888" y="1719072"/>
            <a:ext cx="548640" cy="548640"/>
          </a:xfrm>
          <a:prstGeom prst="ellipse">
            <a:avLst/>
          </a:prstGeom>
          <a:solidFill>
            <a:srgbClr val="E4F3F4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8589" y="1839773"/>
            <a:ext cx="307238" cy="30723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961120" y="17373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8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引用溯源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247888" y="2212848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"/>
              </a:lnSpc>
              <a:buNone/>
            </a:pPr>
            <a:r>
              <a:rPr lang="en-US" sz="1050" dirty="0">
                <a:solidFill>
                  <a:srgbClr val="5E6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每条答案附来源文档与原文片段，点击即可跳转核验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822960" y="3154680"/>
            <a:ext cx="3392424" cy="1481328"/>
          </a:xfrm>
          <a:prstGeom prst="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  <a:effectLst>
            <a:outerShdw sx="100000" sy="100000" kx="0" ky="0" algn="bl" rotWithShape="0" blurRad="114300" dist="38100" dir="5400000">
              <a:srgbClr val="1A234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1097280" y="3410712"/>
            <a:ext cx="548640" cy="548640"/>
          </a:xfrm>
          <a:prstGeom prst="ellipse">
            <a:avLst/>
          </a:prstGeom>
          <a:solidFill>
            <a:srgbClr val="E4F3F4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7981" y="3531413"/>
            <a:ext cx="307238" cy="30723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810512" y="34290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8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权限管理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1097280" y="3904488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"/>
              </a:lnSpc>
              <a:buNone/>
            </a:pPr>
            <a:r>
              <a:rPr lang="en-US" sz="1050" dirty="0">
                <a:solidFill>
                  <a:srgbClr val="5E6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部门 / 角色 / 知识分级，敏感知识仅授权可见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398264" y="3154680"/>
            <a:ext cx="3392424" cy="1481328"/>
          </a:xfrm>
          <a:prstGeom prst="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  <a:effectLst>
            <a:outerShdw sx="100000" sy="100000" kx="0" ky="0" algn="bl" rotWithShape="0" blurRad="114300" dist="38100" dir="5400000">
              <a:srgbClr val="1A2340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672584" y="3410712"/>
            <a:ext cx="548640" cy="548640"/>
          </a:xfrm>
          <a:prstGeom prst="ellipse">
            <a:avLst/>
          </a:prstGeom>
          <a:solidFill>
            <a:srgbClr val="E4F3F4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3285" y="3531413"/>
            <a:ext cx="307238" cy="30723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385816" y="34290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8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审计日志</a:t>
            </a:r>
            <a:endParaRPr lang="en-US" sz="1450" dirty="0"/>
          </a:p>
        </p:txBody>
      </p:sp>
      <p:sp>
        <p:nvSpPr>
          <p:cNvPr id="29" name="Text 22"/>
          <p:cNvSpPr/>
          <p:nvPr/>
        </p:nvSpPr>
        <p:spPr>
          <a:xfrm>
            <a:off x="4672584" y="3904488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"/>
              </a:lnSpc>
              <a:buNone/>
            </a:pPr>
            <a:r>
              <a:rPr lang="en-US" sz="1050" dirty="0">
                <a:solidFill>
                  <a:srgbClr val="5E6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全量操作留痕：谁、何时、问了什么、导出了什么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7973568" y="3154680"/>
            <a:ext cx="3392424" cy="1481328"/>
          </a:xfrm>
          <a:prstGeom prst="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  <a:effectLst>
            <a:outerShdw sx="100000" sy="100000" kx="0" ky="0" algn="bl" rotWithShape="0" blurRad="114300" dist="38100" dir="5400000">
              <a:srgbClr val="1A2340">
                <a:alpha val="1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247888" y="3410712"/>
            <a:ext cx="548640" cy="548640"/>
          </a:xfrm>
          <a:prstGeom prst="ellipse">
            <a:avLst/>
          </a:prstGeom>
          <a:solidFill>
            <a:srgbClr val="E4F3F4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8589" y="3531413"/>
            <a:ext cx="307238" cy="30723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961120" y="34290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8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数据看板</a:t>
            </a:r>
            <a:endParaRPr lang="en-US" sz="1450" dirty="0"/>
          </a:p>
        </p:txBody>
      </p:sp>
      <p:sp>
        <p:nvSpPr>
          <p:cNvPr id="34" name="Text 26"/>
          <p:cNvSpPr/>
          <p:nvPr/>
        </p:nvSpPr>
        <p:spPr>
          <a:xfrm>
            <a:off x="8247888" y="3904488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"/>
              </a:lnSpc>
              <a:buNone/>
            </a:pPr>
            <a:r>
              <a:rPr lang="en-US" sz="1050" dirty="0">
                <a:solidFill>
                  <a:srgbClr val="5E6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知识规模、问答热度、检索命中率、系统状态一目了然</a:t>
            </a:r>
            <a:endParaRPr lang="en-US" sz="1050" dirty="0"/>
          </a:p>
        </p:txBody>
      </p:sp>
      <p:sp>
        <p:nvSpPr>
          <p:cNvPr id="35" name="Shape 27"/>
          <p:cNvSpPr/>
          <p:nvPr/>
        </p:nvSpPr>
        <p:spPr>
          <a:xfrm>
            <a:off x="640080" y="6510528"/>
            <a:ext cx="10908792" cy="10973"/>
          </a:xfrm>
          <a:prstGeom prst="rect">
            <a:avLst/>
          </a:prstGeom>
          <a:solidFill>
            <a:srgbClr val="E3E6EE"/>
          </a:solidFill>
          <a:ln/>
        </p:spPr>
      </p:sp>
      <p:sp>
        <p:nvSpPr>
          <p:cNvPr id="36" name="Text 28"/>
          <p:cNvSpPr/>
          <p:nvPr/>
        </p:nvSpPr>
        <p:spPr>
          <a:xfrm>
            <a:off x="64008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湖企智库 · 企业AI本地知识库解决方案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10607040" y="6565392"/>
            <a:ext cx="941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28016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4747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企业现场演示流程：5 分钟讲透价值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93268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一套标准演示脚本，可直接用于企业展厅与方案汇报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325880" y="155448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132588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04288" y="1828800"/>
            <a:ext cx="274320" cy="2743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22960" y="2606040"/>
            <a:ext cx="2084832" cy="1874520"/>
          </a:xfrm>
          <a:prstGeom prst="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  <a:effectLst>
            <a:outerShdw sx="100000" sy="100000" kx="0" ky="0" algn="bl" rotWithShape="0" blurRad="114300" dist="38100" dir="5400000">
              <a:srgbClr val="1A234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078992" y="2834640"/>
            <a:ext cx="502920" cy="502920"/>
          </a:xfrm>
          <a:prstGeom prst="ellipse">
            <a:avLst/>
          </a:prstGeom>
          <a:solidFill>
            <a:srgbClr val="E4F3F4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9634" y="2945282"/>
            <a:ext cx="281635" cy="28163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78992" y="34290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8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上传企业文档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1078992" y="3822192"/>
            <a:ext cx="1627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2"/>
              </a:lnSpc>
              <a:buNone/>
            </a:pPr>
            <a:r>
              <a:rPr lang="en-US" sz="950" dirty="0">
                <a:solidFill>
                  <a:srgbClr val="5E6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 / 工艺 / 报价等示例文档一键入库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3593592" y="155448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0"/>
          <p:cNvSpPr/>
          <p:nvPr/>
        </p:nvSpPr>
        <p:spPr>
          <a:xfrm>
            <a:off x="3593592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2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828800"/>
            <a:ext cx="274320" cy="27432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3090672" y="2606040"/>
            <a:ext cx="2084832" cy="1874520"/>
          </a:xfrm>
          <a:prstGeom prst="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  <a:effectLst>
            <a:outerShdw sx="100000" sy="100000" kx="0" ky="0" algn="bl" rotWithShape="0" blurRad="114300" dist="38100" dir="5400000">
              <a:srgbClr val="1A2340">
                <a:alpha val="1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3346704" y="2834640"/>
            <a:ext cx="502920" cy="502920"/>
          </a:xfrm>
          <a:prstGeom prst="ellipse">
            <a:avLst/>
          </a:prstGeom>
          <a:solidFill>
            <a:srgbClr val="E4F3F4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7346" y="2945282"/>
            <a:ext cx="281635" cy="28163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346704" y="34290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8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自动解析入库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3346704" y="3822192"/>
            <a:ext cx="1627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2"/>
              </a:lnSpc>
              <a:buNone/>
            </a:pPr>
            <a:r>
              <a:rPr lang="en-US" sz="950" dirty="0">
                <a:solidFill>
                  <a:srgbClr val="5E6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分块 → 向量化，看板实时显示知识规模</a:t>
            </a:r>
            <a:endParaRPr lang="en-US" sz="950" dirty="0"/>
          </a:p>
        </p:txBody>
      </p:sp>
      <p:sp>
        <p:nvSpPr>
          <p:cNvPr id="21" name="Shape 15"/>
          <p:cNvSpPr/>
          <p:nvPr/>
        </p:nvSpPr>
        <p:spPr>
          <a:xfrm>
            <a:off x="5861304" y="155448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16"/>
          <p:cNvSpPr/>
          <p:nvPr/>
        </p:nvSpPr>
        <p:spPr>
          <a:xfrm>
            <a:off x="5861304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2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9712" y="1828800"/>
            <a:ext cx="274320" cy="274320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5358384" y="2606040"/>
            <a:ext cx="2084832" cy="1874520"/>
          </a:xfrm>
          <a:prstGeom prst="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  <a:effectLst>
            <a:outerShdw sx="100000" sy="100000" kx="0" ky="0" algn="bl" rotWithShape="0" blurRad="114300" dist="38100" dir="5400000">
              <a:srgbClr val="1A2340">
                <a:alpha val="10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5614416" y="2834640"/>
            <a:ext cx="502920" cy="502920"/>
          </a:xfrm>
          <a:prstGeom prst="ellipse">
            <a:avLst/>
          </a:prstGeom>
          <a:solidFill>
            <a:srgbClr val="E4F3F4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25058" y="2945282"/>
            <a:ext cx="281635" cy="281635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614416" y="34290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8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现场提问</a:t>
            </a:r>
            <a:endParaRPr lang="en-US" sz="1350" dirty="0"/>
          </a:p>
        </p:txBody>
      </p:sp>
      <p:sp>
        <p:nvSpPr>
          <p:cNvPr id="28" name="Text 20"/>
          <p:cNvSpPr/>
          <p:nvPr/>
        </p:nvSpPr>
        <p:spPr>
          <a:xfrm>
            <a:off x="5614416" y="3822192"/>
            <a:ext cx="1627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2"/>
              </a:lnSpc>
              <a:buNone/>
            </a:pPr>
            <a:r>
              <a:rPr lang="en-US" sz="950" dirty="0">
                <a:solidFill>
                  <a:srgbClr val="5E6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「出差报销标准？」「客户投诉如何处理？」</a:t>
            </a:r>
            <a:endParaRPr lang="en-US" sz="950" dirty="0"/>
          </a:p>
        </p:txBody>
      </p:sp>
      <p:sp>
        <p:nvSpPr>
          <p:cNvPr id="29" name="Shape 21"/>
          <p:cNvSpPr/>
          <p:nvPr/>
        </p:nvSpPr>
        <p:spPr>
          <a:xfrm>
            <a:off x="8129016" y="155448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0" name="Text 22"/>
          <p:cNvSpPr/>
          <p:nvPr/>
        </p:nvSpPr>
        <p:spPr>
          <a:xfrm>
            <a:off x="8129016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200" dirty="0"/>
          </a:p>
        </p:txBody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07424" y="1828800"/>
            <a:ext cx="274320" cy="274320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7626096" y="2606040"/>
            <a:ext cx="2084832" cy="1874520"/>
          </a:xfrm>
          <a:prstGeom prst="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  <a:effectLst>
            <a:outerShdw sx="100000" sy="100000" kx="0" ky="0" algn="bl" rotWithShape="0" blurRad="114300" dist="38100" dir="5400000">
              <a:srgbClr val="1A2340">
                <a:alpha val="10000"/>
              </a:srgbClr>
            </a:outerShdw>
          </a:effectLst>
        </p:spPr>
      </p:sp>
      <p:sp>
        <p:nvSpPr>
          <p:cNvPr id="33" name="Shape 24"/>
          <p:cNvSpPr/>
          <p:nvPr/>
        </p:nvSpPr>
        <p:spPr>
          <a:xfrm>
            <a:off x="7882128" y="2834640"/>
            <a:ext cx="502920" cy="502920"/>
          </a:xfrm>
          <a:prstGeom prst="ellipse">
            <a:avLst/>
          </a:prstGeom>
          <a:solidFill>
            <a:srgbClr val="E4F3F4"/>
          </a:solidFill>
          <a:ln/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92770" y="2945282"/>
            <a:ext cx="281635" cy="281635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7882128" y="34290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8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 + 溯源</a:t>
            </a:r>
            <a:endParaRPr lang="en-US" sz="1350" dirty="0"/>
          </a:p>
        </p:txBody>
      </p:sp>
      <p:sp>
        <p:nvSpPr>
          <p:cNvPr id="36" name="Text 26"/>
          <p:cNvSpPr/>
          <p:nvPr/>
        </p:nvSpPr>
        <p:spPr>
          <a:xfrm>
            <a:off x="7882128" y="3822192"/>
            <a:ext cx="1627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2"/>
              </a:lnSpc>
              <a:buNone/>
            </a:pPr>
            <a:r>
              <a:rPr lang="en-US" sz="950" dirty="0">
                <a:solidFill>
                  <a:srgbClr val="5E6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秒级返回带引用来源，点击核验原文</a:t>
            </a:r>
            <a:endParaRPr lang="en-US" sz="950" dirty="0"/>
          </a:p>
        </p:txBody>
      </p:sp>
      <p:sp>
        <p:nvSpPr>
          <p:cNvPr id="37" name="Shape 27"/>
          <p:cNvSpPr/>
          <p:nvPr/>
        </p:nvSpPr>
        <p:spPr>
          <a:xfrm>
            <a:off x="10396728" y="155448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8" name="Text 28"/>
          <p:cNvSpPr/>
          <p:nvPr/>
        </p:nvSpPr>
        <p:spPr>
          <a:xfrm>
            <a:off x="10396728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2200" dirty="0"/>
          </a:p>
        </p:txBody>
      </p:sp>
      <p:sp>
        <p:nvSpPr>
          <p:cNvPr id="39" name="Shape 29"/>
          <p:cNvSpPr/>
          <p:nvPr/>
        </p:nvSpPr>
        <p:spPr>
          <a:xfrm>
            <a:off x="9893808" y="2606040"/>
            <a:ext cx="2084832" cy="1874520"/>
          </a:xfrm>
          <a:prstGeom prst="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  <a:effectLst>
            <a:outerShdw sx="100000" sy="100000" kx="0" ky="0" algn="bl" rotWithShape="0" blurRad="114300" dist="38100" dir="5400000">
              <a:srgbClr val="1A2340">
                <a:alpha val="10000"/>
              </a:srgbClr>
            </a:outerShdw>
          </a:effectLst>
        </p:spPr>
      </p:sp>
      <p:sp>
        <p:nvSpPr>
          <p:cNvPr id="40" name="Shape 30"/>
          <p:cNvSpPr/>
          <p:nvPr/>
        </p:nvSpPr>
        <p:spPr>
          <a:xfrm>
            <a:off x="10149840" y="2834640"/>
            <a:ext cx="502920" cy="502920"/>
          </a:xfrm>
          <a:prstGeom prst="ellipse">
            <a:avLst/>
          </a:prstGeom>
          <a:solidFill>
            <a:srgbClr val="E4F3F4"/>
          </a:solidFill>
          <a:ln/>
        </p:spPr>
      </p:sp>
      <p:pic>
        <p:nvPicPr>
          <p:cNvPr id="4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60482" y="2945282"/>
            <a:ext cx="281635" cy="281635"/>
          </a:xfrm>
          <a:prstGeom prst="rect">
            <a:avLst/>
          </a:prstGeom>
        </p:spPr>
      </p:pic>
      <p:sp>
        <p:nvSpPr>
          <p:cNvPr id="42" name="Text 31"/>
          <p:cNvSpPr/>
          <p:nvPr/>
        </p:nvSpPr>
        <p:spPr>
          <a:xfrm>
            <a:off x="10149840" y="34290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8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安全演示</a:t>
            </a:r>
            <a:endParaRPr lang="en-US" sz="1350" dirty="0"/>
          </a:p>
        </p:txBody>
      </p:sp>
      <p:sp>
        <p:nvSpPr>
          <p:cNvPr id="43" name="Text 32"/>
          <p:cNvSpPr/>
          <p:nvPr/>
        </p:nvSpPr>
        <p:spPr>
          <a:xfrm>
            <a:off x="10149840" y="3822192"/>
            <a:ext cx="1627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2"/>
              </a:lnSpc>
              <a:buNone/>
            </a:pPr>
            <a:r>
              <a:rPr lang="en-US" sz="950" dirty="0">
                <a:solidFill>
                  <a:srgbClr val="5E6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展示权限分级与审计日志，强调数据不出域</a:t>
            </a:r>
            <a:endParaRPr lang="en-US" sz="950" dirty="0"/>
          </a:p>
        </p:txBody>
      </p:sp>
      <p:sp>
        <p:nvSpPr>
          <p:cNvPr id="44" name="Shape 33"/>
          <p:cNvSpPr/>
          <p:nvPr/>
        </p:nvSpPr>
        <p:spPr>
          <a:xfrm>
            <a:off x="822960" y="4846320"/>
            <a:ext cx="10543032" cy="1325880"/>
          </a:xfrm>
          <a:prstGeom prst="rect">
            <a:avLst>
              <a:gd name="adj" fmla="val 5517"/>
            </a:avLst>
          </a:prstGeom>
          <a:solidFill>
            <a:srgbClr val="E4F3F4"/>
          </a:solidFill>
          <a:ln/>
        </p:spPr>
      </p:sp>
      <p:sp>
        <p:nvSpPr>
          <p:cNvPr id="45" name="Text 34"/>
          <p:cNvSpPr/>
          <p:nvPr/>
        </p:nvSpPr>
        <p:spPr>
          <a:xfrm>
            <a:off x="1097280" y="50109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60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演示配套物料</a:t>
            </a:r>
            <a:endParaRPr lang="en-US" sz="1400" dirty="0"/>
          </a:p>
        </p:txBody>
      </p:sp>
      <p:sp>
        <p:nvSpPr>
          <p:cNvPr id="46" name="Text 35"/>
          <p:cNvSpPr/>
          <p:nvPr/>
        </p:nvSpPr>
        <p:spPr>
          <a:xfrm>
            <a:off x="1097280" y="534924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260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预置湖州制造企业示例知识库（制度 / 工艺 / 售后 / 财务）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260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模拟模式免 GPU 即可演示完整流程；接入本地 DeepSeek 即切换真实推理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260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一键切换演示数据，覆盖展厅大屏与笔记本两种环境</a:t>
            </a:r>
            <a:endParaRPr lang="en-US" sz="1150" dirty="0"/>
          </a:p>
        </p:txBody>
      </p:sp>
      <p:sp>
        <p:nvSpPr>
          <p:cNvPr id="47" name="Shape 36"/>
          <p:cNvSpPr/>
          <p:nvPr/>
        </p:nvSpPr>
        <p:spPr>
          <a:xfrm>
            <a:off x="640080" y="6510528"/>
            <a:ext cx="10908792" cy="10973"/>
          </a:xfrm>
          <a:prstGeom prst="rect">
            <a:avLst/>
          </a:prstGeom>
          <a:solidFill>
            <a:srgbClr val="E3E6EE"/>
          </a:solidFill>
          <a:ln/>
        </p:spPr>
      </p:sp>
      <p:sp>
        <p:nvSpPr>
          <p:cNvPr id="48" name="Text 37"/>
          <p:cNvSpPr/>
          <p:nvPr/>
        </p:nvSpPr>
        <p:spPr>
          <a:xfrm>
            <a:off x="64008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湖企智库 · 企业AI本地知识库解决方案</a:t>
            </a:r>
            <a:endParaRPr lang="en-US" sz="900" dirty="0"/>
          </a:p>
        </p:txBody>
      </p:sp>
      <p:sp>
        <p:nvSpPr>
          <p:cNvPr id="49" name="Text 38"/>
          <p:cNvSpPr/>
          <p:nvPr/>
        </p:nvSpPr>
        <p:spPr>
          <a:xfrm>
            <a:off x="10607040" y="6565392"/>
            <a:ext cx="941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28016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4747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部署方案：三档配置 + 三步实施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93268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按企业规模与预算选择，支持离线交付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硬件配置建议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28800"/>
          <a:ext cx="5760720" cy="2377440"/>
        </p:xfrm>
        <a:graphic>
          <a:graphicData uri="http://schemas.openxmlformats.org/drawingml/2006/table">
            <a:tbl>
              <a:tblPr/>
              <a:tblGrid>
                <a:gridCol w="1737360"/>
                <a:gridCol w="1920240"/>
                <a:gridCol w="21031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内存 / 显存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适用企业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328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轻量版 · 7B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28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16GB 内存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E64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小微企业 / 演示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328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标准版 · 14B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28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32GB 内存 / 独显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E64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中型制造企业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328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企业版 · 32B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28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64GB+ / 服务器GPU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E64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集团 / 高精度场景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22960" y="4572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三步快速实施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22960" y="4983480"/>
            <a:ext cx="57607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5084064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5001768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部署模型引擎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2926080" y="5001768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内网安装 Ollama 与 DeepSeek 模型，离线安装包支持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822960" y="5550408"/>
            <a:ext cx="57607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5650992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5568696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导入企业知识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2926080" y="5568696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批量上传制度 / 工艺 / 售后文档，自动解析入库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822960" y="6117336"/>
            <a:ext cx="57607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6217920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71600" y="6135624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培训与上线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2926080" y="6135624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管理员培训、权限配置、演示数据就绪，一天即可上线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6949440" y="1417320"/>
            <a:ext cx="4416552" cy="4846320"/>
          </a:xfrm>
          <a:prstGeom prst="rect">
            <a:avLst>
              <a:gd name="adj" fmla="val 2070"/>
            </a:avLst>
          </a:prstGeom>
          <a:solidFill>
            <a:srgbClr val="1E2761"/>
          </a:solidFill>
          <a:ln/>
        </p:spPr>
      </p:sp>
      <p:sp>
        <p:nvSpPr>
          <p:cNvPr id="21" name="Text 15"/>
          <p:cNvSpPr/>
          <p:nvPr/>
        </p:nvSpPr>
        <p:spPr>
          <a:xfrm>
            <a:off x="7269480" y="16916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为什么选择我们这套方案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7269480" y="2240280"/>
            <a:ext cx="37947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15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8E1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已交付 3 个同源 AI 平台，架构成熟稳定</a:t>
            </a:r>
            <a:endParaRPr lang="en-US" sz="1250" dirty="0"/>
          </a:p>
          <a:p>
            <a:pPr marL="342900" indent="-342900">
              <a:lnSpc>
                <a:spcPts val="115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8E1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演示系统开箱即用：模拟模式 + 真实模式双通道</a:t>
            </a:r>
            <a:endParaRPr lang="en-US" sz="1250" dirty="0"/>
          </a:p>
          <a:p>
            <a:pPr marL="342900" indent="-342900">
              <a:lnSpc>
                <a:spcPts val="115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8E1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中文场景深度优化，回答贴合企业业务语言</a:t>
            </a:r>
            <a:endParaRPr lang="en-US" sz="1250" dirty="0"/>
          </a:p>
          <a:p>
            <a:pPr marL="342900" indent="-342900">
              <a:lnSpc>
                <a:spcPts val="115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8E1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纯内网部署，无需改造现有网络</a:t>
            </a:r>
            <a:endParaRPr lang="en-US" sz="1250" dirty="0"/>
          </a:p>
          <a:p>
            <a:pPr marL="342900" indent="-342900">
              <a:lnSpc>
                <a:spcPts val="115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8E1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支持从演示环境平滑升级到生产环境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7269480" y="5212080"/>
            <a:ext cx="3749040" cy="731520"/>
          </a:xfrm>
          <a:prstGeom prst="rect">
            <a:avLst>
              <a:gd name="adj" fmla="val 7500"/>
            </a:avLst>
          </a:prstGeom>
          <a:solidFill>
            <a:srgbClr val="1D2A5C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7269480" y="521208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天部署 · 当天可演示</a:t>
            </a:r>
            <a:endParaRPr lang="en-US" sz="1400" dirty="0"/>
          </a:p>
        </p:txBody>
      </p:sp>
      <p:sp>
        <p:nvSpPr>
          <p:cNvPr id="25" name="Shape 19"/>
          <p:cNvSpPr/>
          <p:nvPr/>
        </p:nvSpPr>
        <p:spPr>
          <a:xfrm>
            <a:off x="640080" y="6510528"/>
            <a:ext cx="10908792" cy="10973"/>
          </a:xfrm>
          <a:prstGeom prst="rect">
            <a:avLst/>
          </a:prstGeom>
          <a:solidFill>
            <a:srgbClr val="E3E6EE"/>
          </a:solidFill>
          <a:ln/>
        </p:spPr>
      </p:sp>
      <p:sp>
        <p:nvSpPr>
          <p:cNvPr id="26" name="Text 20"/>
          <p:cNvSpPr/>
          <p:nvPr/>
        </p:nvSpPr>
        <p:spPr>
          <a:xfrm>
            <a:off x="64008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湖企智库 · 企业AI本地知识库解决方案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0607040" y="6565392"/>
            <a:ext cx="941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28016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4747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价值总结：看得见的变化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93268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对湖州企业而言，这套系统的价值可以用四组数字概括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1554480"/>
            <a:ext cx="2542032" cy="3291840"/>
          </a:xfrm>
          <a:prstGeom prst="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  <a:effectLst>
            <a:outerShdw sx="100000" sy="100000" kx="0" ky="0" algn="bl" rotWithShape="0" blurRad="114300" dist="38100" dir="5400000">
              <a:srgbClr val="1A234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19656" y="1828800"/>
            <a:ext cx="548640" cy="548640"/>
          </a:xfrm>
          <a:prstGeom prst="ellipse">
            <a:avLst/>
          </a:prstGeom>
          <a:solidFill>
            <a:srgbClr val="E4F3F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0357" y="194950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2606040"/>
            <a:ext cx="2359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小时级 → 秒级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914400" y="3383280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60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知识检索效率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51560" y="3840480"/>
            <a:ext cx="2084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"/>
              </a:lnSpc>
              <a:buNone/>
            </a:pPr>
            <a:r>
              <a:rPr lang="en-US" sz="1050" dirty="0">
                <a:solidFill>
                  <a:srgbClr val="5E6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原先人工翻找数小时，现在智能问答秒级返回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547872" y="1554480"/>
            <a:ext cx="2542032" cy="3291840"/>
          </a:xfrm>
          <a:prstGeom prst="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  <a:effectLst>
            <a:outerShdw sx="100000" sy="100000" kx="0" ky="0" algn="bl" rotWithShape="0" blurRad="114300" dist="38100" dir="5400000">
              <a:srgbClr val="1A234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44568" y="1828800"/>
            <a:ext cx="548640" cy="548640"/>
          </a:xfrm>
          <a:prstGeom prst="ellipse">
            <a:avLst/>
          </a:prstGeom>
          <a:solidFill>
            <a:srgbClr val="E4F3F4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5269" y="194950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39312" y="2606040"/>
            <a:ext cx="2359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 出域</a:t>
            </a:r>
            <a:endParaRPr lang="en-US" sz="3000" dirty="0"/>
          </a:p>
        </p:txBody>
      </p:sp>
      <p:sp>
        <p:nvSpPr>
          <p:cNvPr id="15" name="Text 11"/>
          <p:cNvSpPr/>
          <p:nvPr/>
        </p:nvSpPr>
        <p:spPr>
          <a:xfrm>
            <a:off x="3639312" y="3383280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60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敏感数据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776472" y="3840480"/>
            <a:ext cx="2084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"/>
              </a:lnSpc>
              <a:buNone/>
            </a:pPr>
            <a:r>
              <a:rPr lang="en-US" sz="1050" dirty="0">
                <a:solidFill>
                  <a:srgbClr val="5E6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 / 知识 / 推理全本地化，数据主权自持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272784" y="1554480"/>
            <a:ext cx="2542032" cy="3291840"/>
          </a:xfrm>
          <a:prstGeom prst="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  <a:effectLst>
            <a:outerShdw sx="100000" sy="100000" kx="0" ky="0" algn="bl" rotWithShape="0" blurRad="114300" dist="38100" dir="5400000">
              <a:srgbClr val="1A234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269480" y="1828800"/>
            <a:ext cx="548640" cy="548640"/>
          </a:xfrm>
          <a:prstGeom prst="ellipse">
            <a:avLst/>
          </a:prstGeom>
          <a:solidFill>
            <a:srgbClr val="E4F3F4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0181" y="1949501"/>
            <a:ext cx="307238" cy="30723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64224" y="2606040"/>
            <a:ext cx="2359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7×24</a:t>
            </a:r>
            <a:endParaRPr lang="en-US" sz="3000" dirty="0"/>
          </a:p>
        </p:txBody>
      </p:sp>
      <p:sp>
        <p:nvSpPr>
          <p:cNvPr id="21" name="Text 16"/>
          <p:cNvSpPr/>
          <p:nvPr/>
        </p:nvSpPr>
        <p:spPr>
          <a:xfrm>
            <a:off x="6364224" y="3383280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60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持续在线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501384" y="3840480"/>
            <a:ext cx="2084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"/>
              </a:lnSpc>
              <a:buNone/>
            </a:pPr>
            <a:r>
              <a:rPr lang="en-US" sz="1050" dirty="0">
                <a:solidFill>
                  <a:srgbClr val="5E6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不受公有云 API 限流、波动与涨价影响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8997696" y="1554480"/>
            <a:ext cx="2542032" cy="3291840"/>
          </a:xfrm>
          <a:prstGeom prst="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  <a:effectLst>
            <a:outerShdw sx="100000" sy="100000" kx="0" ky="0" algn="bl" rotWithShape="0" blurRad="114300" dist="38100" dir="5400000">
              <a:srgbClr val="1A234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9994392" y="1828800"/>
            <a:ext cx="548640" cy="548640"/>
          </a:xfrm>
          <a:prstGeom prst="ellipse">
            <a:avLst/>
          </a:prstGeom>
          <a:solidFill>
            <a:srgbClr val="E4F3F4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5093" y="1949501"/>
            <a:ext cx="307238" cy="30723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089136" y="2606040"/>
            <a:ext cx="2359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</a:t>
            </a:r>
            <a:endParaRPr lang="en-US" sz="3000" dirty="0"/>
          </a:p>
        </p:txBody>
      </p:sp>
      <p:sp>
        <p:nvSpPr>
          <p:cNvPr id="27" name="Text 21"/>
          <p:cNvSpPr/>
          <p:nvPr/>
        </p:nvSpPr>
        <p:spPr>
          <a:xfrm>
            <a:off x="9089136" y="3383280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60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知识沉淀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9226296" y="3840480"/>
            <a:ext cx="2084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"/>
              </a:lnSpc>
              <a:buNone/>
            </a:pPr>
            <a:r>
              <a:rPr lang="en-US" sz="1050" dirty="0">
                <a:solidFill>
                  <a:srgbClr val="5E6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老师傅经验结构化入库，人走经验留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822960" y="5120640"/>
            <a:ext cx="10543032" cy="1051560"/>
          </a:xfrm>
          <a:prstGeom prst="rect">
            <a:avLst>
              <a:gd name="adj" fmla="val 6957"/>
            </a:avLst>
          </a:prstGeom>
          <a:solidFill>
            <a:srgbClr val="E4F3F4"/>
          </a:solidFill>
          <a:ln/>
        </p:spPr>
      </p:sp>
      <p:sp>
        <p:nvSpPr>
          <p:cNvPr id="30" name="Text 24"/>
          <p:cNvSpPr/>
          <p:nvPr/>
        </p:nvSpPr>
        <p:spPr>
          <a:xfrm>
            <a:off x="1097280" y="5120640"/>
            <a:ext cx="9966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260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从「找文档」到「问知识」，从「怕泄密」到「放心用」—— 让湖州企业的知识真正变成资产。</a:t>
            </a:r>
            <a:endParaRPr lang="en-US" sz="1550" dirty="0"/>
          </a:p>
        </p:txBody>
      </p:sp>
      <p:sp>
        <p:nvSpPr>
          <p:cNvPr id="31" name="Shape 25"/>
          <p:cNvSpPr/>
          <p:nvPr/>
        </p:nvSpPr>
        <p:spPr>
          <a:xfrm>
            <a:off x="640080" y="6510528"/>
            <a:ext cx="10908792" cy="10973"/>
          </a:xfrm>
          <a:prstGeom prst="rect">
            <a:avLst/>
          </a:prstGeom>
          <a:solidFill>
            <a:srgbClr val="E3E6EE"/>
          </a:solidFill>
          <a:ln/>
        </p:spPr>
      </p:sp>
      <p:sp>
        <p:nvSpPr>
          <p:cNvPr id="32" name="Text 26"/>
          <p:cNvSpPr/>
          <p:nvPr/>
        </p:nvSpPr>
        <p:spPr>
          <a:xfrm>
            <a:off x="64008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湖企智库 · 企业AI本地知识库解决方案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10607040" y="6565392"/>
            <a:ext cx="941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7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5733288" y="1234440"/>
            <a:ext cx="731520" cy="731520"/>
          </a:xfrm>
          <a:prstGeom prst="ellipse">
            <a:avLst/>
          </a:prstGeom>
          <a:solidFill>
            <a:srgbClr val="1D2A5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4222" y="1395374"/>
            <a:ext cx="409651" cy="409651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1888" y="1463040"/>
            <a:ext cx="274320" cy="2743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527048" y="237744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谢谢观看</a:t>
            </a:r>
            <a:endParaRPr lang="en-US" sz="5400" dirty="0"/>
          </a:p>
        </p:txBody>
      </p:sp>
      <p:sp>
        <p:nvSpPr>
          <p:cNvPr id="7" name="Text 3"/>
          <p:cNvSpPr/>
          <p:nvPr/>
        </p:nvSpPr>
        <p:spPr>
          <a:xfrm>
            <a:off x="1527048" y="36118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8E1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湖企智库 · 让企业知识安全地聪明起来</a:t>
            </a:r>
            <a:endParaRPr lang="en-US" sz="1800" dirty="0"/>
          </a:p>
        </p:txBody>
      </p:sp>
      <p:sp>
        <p:nvSpPr>
          <p:cNvPr id="8" name="Shape 4"/>
          <p:cNvSpPr/>
          <p:nvPr/>
        </p:nvSpPr>
        <p:spPr>
          <a:xfrm>
            <a:off x="5367528" y="4297680"/>
            <a:ext cx="1463040" cy="4114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5"/>
          <p:cNvSpPr/>
          <p:nvPr/>
        </p:nvSpPr>
        <p:spPr>
          <a:xfrm>
            <a:off x="1527048" y="47091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演示版本 · 欢迎现场体验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湖企智库 - 企业AI本地知识库解决方案</dc:title>
  <dc:subject>PptxGenJS Presentation</dc:subject>
  <dc:creator>WorkBuddy</dc:creator>
  <cp:lastModifiedBy>WorkBuddy</cp:lastModifiedBy>
  <cp:revision>1</cp:revision>
  <dcterms:created xsi:type="dcterms:W3CDTF">2026-08-11T13:28:42Z</dcterms:created>
  <dcterms:modified xsi:type="dcterms:W3CDTF">2026-08-11T13:28:42Z</dcterms:modified>
</cp:coreProperties>
</file>